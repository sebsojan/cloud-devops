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9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262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0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1874520" y="1481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</a:t>
            </a:r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</a:t>
            </a:r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Azure DevOps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7240" y="5074920"/>
            <a:ext cx="1060704" cy="502920"/>
          </a:xfrm>
          <a:prstGeom prst="roundRect">
            <a:avLst>
              <a:gd name="adj" fmla="val 49091"/>
            </a:avLst>
          </a:prstGeom>
          <a:solidFill>
            <a:srgbClr val="112A5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074920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9735" y="5074920"/>
            <a:ext cx="1293962" cy="502920"/>
          </a:xfrm>
          <a:prstGeom prst="roundRect">
            <a:avLst>
              <a:gd name="adj" fmla="val 49091"/>
            </a:avLst>
          </a:prstGeom>
          <a:solidFill>
            <a:srgbClr val="112A5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55771" y="5138324"/>
            <a:ext cx="93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002786" y="5052060"/>
            <a:ext cx="1431036" cy="502920"/>
          </a:xfrm>
          <a:prstGeom prst="roundRect">
            <a:avLst>
              <a:gd name="adj" fmla="val 49091"/>
            </a:avLst>
          </a:prstGeom>
          <a:solidFill>
            <a:srgbClr val="112A5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02786" y="5051413"/>
            <a:ext cx="1431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12207" y="505206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112A5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12207" y="5025749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010463" y="5025749"/>
            <a:ext cx="1431036" cy="502920"/>
          </a:xfrm>
          <a:prstGeom prst="roundRect">
            <a:avLst>
              <a:gd name="adj" fmla="val 49091"/>
            </a:avLst>
          </a:prstGeom>
          <a:solidFill>
            <a:srgbClr val="112A5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10463" y="5025749"/>
            <a:ext cx="1431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72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0A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Manoop  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4BCB6A2-2242-1ABF-AC45-A5A3B9A90F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3697" y="827540"/>
            <a:ext cx="2765119" cy="172819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Azure DevOps?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is Microsoft's cloud platform that gives teams everything needed to plan work, write code, run automated builds and tests, and release software — all in one connected place. It supports the full software lifecycle so developers, testers and operations work together instead of in silos.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3630168"/>
            <a:ext cx="566928" cy="566928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260" y="3788908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3611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39319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space for dev, QA and ops teams.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0" y="3429000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3630168"/>
            <a:ext cx="566928" cy="566928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/home/claude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340" y="3788908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3611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343400" y="39319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 and deploy without manual steps.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754880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4956048"/>
            <a:ext cx="566928" cy="566928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2" descr="/home/claude/icons/az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260" y="5114788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4937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or On-Prem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417320" y="5257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Azure DevOps Services or Azure DevOps Server.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474720" y="4754880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57600" y="4956048"/>
            <a:ext cx="566928" cy="566928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3" descr="/home/claude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6340" y="5114788"/>
            <a:ext cx="249448" cy="2494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343400" y="4937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Governed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343400" y="5257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approvals and audit built in.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720840" y="1463040"/>
            <a:ext cx="4892040" cy="4617720"/>
          </a:xfrm>
          <a:prstGeom prst="roundRect">
            <a:avLst>
              <a:gd name="adj" fmla="val 1980"/>
            </a:avLst>
          </a:prstGeom>
          <a:solidFill>
            <a:srgbClr val="0A1B3D"/>
          </a:solidFill>
          <a:ln/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04088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DevOps Lifecycle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7040880" y="2084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0A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loop — not a one-time process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7086600" y="2542032"/>
            <a:ext cx="457200" cy="45720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9" name="Image 4" descr="/home/claude/icons/board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4616" y="2670048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680960" y="2542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8732520" y="2560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work &amp; backlog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7086600" y="3108960"/>
            <a:ext cx="457200" cy="45720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3" name="Image 5" descr="/home/claude/icons/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4616" y="3236976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68096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732520" y="312724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review code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7086600" y="3675888"/>
            <a:ext cx="457200" cy="45720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7" name="Image 6" descr="/home/claude/icons/bui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4616" y="3803904"/>
            <a:ext cx="201168" cy="20116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680960" y="3675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732520" y="369417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&amp; package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7086600" y="4242816"/>
            <a:ext cx="457200" cy="45720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1" name="Image 7" descr="/home/claude/icons/tes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4616" y="4370832"/>
            <a:ext cx="201168" cy="20116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680960" y="4242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8732520" y="426110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checks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7086600" y="4809744"/>
            <a:ext cx="457200" cy="45720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5" name="Image 8" descr="/home/claude/icons/deplo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14616" y="4937760"/>
            <a:ext cx="201168" cy="201168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7680960" y="4809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400" dirty="0"/>
          </a:p>
        </p:txBody>
      </p:sp>
      <p:sp>
        <p:nvSpPr>
          <p:cNvPr id="47" name="Text 36"/>
          <p:cNvSpPr/>
          <p:nvPr/>
        </p:nvSpPr>
        <p:spPr>
          <a:xfrm>
            <a:off x="8732520" y="48280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to environments</a:t>
            </a:r>
            <a:endParaRPr lang="en-US" sz="1200" dirty="0"/>
          </a:p>
        </p:txBody>
      </p:sp>
      <p:sp>
        <p:nvSpPr>
          <p:cNvPr id="48" name="Shape 37"/>
          <p:cNvSpPr/>
          <p:nvPr/>
        </p:nvSpPr>
        <p:spPr>
          <a:xfrm>
            <a:off x="7086600" y="5376672"/>
            <a:ext cx="457200" cy="45720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9" name="Image 9" descr="/home/claude/icons/monito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4616" y="5504688"/>
            <a:ext cx="201168" cy="201168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7680960" y="5376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51" name="Text 39"/>
          <p:cNvSpPr/>
          <p:nvPr/>
        </p:nvSpPr>
        <p:spPr>
          <a:xfrm>
            <a:off x="8732520" y="53949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health &amp; feedback</a:t>
            </a:r>
            <a:endParaRPr lang="en-US" sz="1200" dirty="0"/>
          </a:p>
        </p:txBody>
      </p:sp>
      <p:sp>
        <p:nvSpPr>
          <p:cNvPr id="52" name="Text 40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0A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teams choose Azure DevOps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12A54"/>
          </a:solidFill>
          <a:ln w="12700">
            <a:solidFill>
              <a:srgbClr val="0078D4"/>
            </a:solidFill>
            <a:prstDash val="solid"/>
          </a:ln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0A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52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removes slow, error-prone manual steps.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6002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12A54"/>
          </a:solidFill>
          <a:ln w="12700">
            <a:solidFill>
              <a:srgbClr val="0078D4"/>
            </a:solidFill>
            <a:prstDash val="solid"/>
          </a:ln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1783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0A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2628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2852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built and tested automatically.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6002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12A54"/>
          </a:solidFill>
          <a:ln w="12700">
            <a:solidFill>
              <a:srgbClr val="0078D4"/>
            </a:solidFill>
            <a:prstDash val="solid"/>
          </a:ln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1783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0A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2852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Work, code and deployments tracked in one place.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A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actually gain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394960" cy="713232"/>
          </a:xfrm>
          <a:prstGeom prst="roundRect">
            <a:avLst>
              <a:gd name="adj" fmla="val 11538"/>
            </a:avLst>
          </a:prstGeom>
          <a:solidFill>
            <a:srgbClr val="112A54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" y="4425696"/>
            <a:ext cx="457200" cy="45720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0" descr="/home/claude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53712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98448" y="429768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Repeatable, one-click deployments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72200" y="4297680"/>
            <a:ext cx="5394960" cy="713232"/>
          </a:xfrm>
          <a:prstGeom prst="roundRect">
            <a:avLst>
              <a:gd name="adj" fmla="val 11538"/>
            </a:avLst>
          </a:prstGeom>
          <a:solidFill>
            <a:srgbClr val="112A54"/>
          </a:solidFill>
          <a:ln/>
        </p:spPr>
      </p:sp>
      <p:sp>
        <p:nvSpPr>
          <p:cNvPr id="22" name="Shape 19"/>
          <p:cNvSpPr/>
          <p:nvPr/>
        </p:nvSpPr>
        <p:spPr>
          <a:xfrm>
            <a:off x="6318504" y="4425696"/>
            <a:ext cx="457200" cy="45720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3" name="Image 1" descr="/home/claude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553712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922008" y="429768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gates and audit trails for safety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548640" y="5166360"/>
            <a:ext cx="5394960" cy="713232"/>
          </a:xfrm>
          <a:prstGeom prst="roundRect">
            <a:avLst>
              <a:gd name="adj" fmla="val 11538"/>
            </a:avLst>
          </a:prstGeom>
          <a:solidFill>
            <a:srgbClr val="112A54"/>
          </a:solidFill>
          <a:ln/>
        </p:spPr>
      </p:sp>
      <p:sp>
        <p:nvSpPr>
          <p:cNvPr id="26" name="Shape 22"/>
          <p:cNvSpPr/>
          <p:nvPr/>
        </p:nvSpPr>
        <p:spPr>
          <a:xfrm>
            <a:off x="694944" y="5294376"/>
            <a:ext cx="457200" cy="45720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2" descr="/home/claude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422392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298448" y="516636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language, cloud or on-prem target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172200" y="5166360"/>
            <a:ext cx="5394960" cy="713232"/>
          </a:xfrm>
          <a:prstGeom prst="roundRect">
            <a:avLst>
              <a:gd name="adj" fmla="val 11538"/>
            </a:avLst>
          </a:prstGeom>
          <a:solidFill>
            <a:srgbClr val="112A54"/>
          </a:solidFill>
          <a:ln/>
        </p:spPr>
      </p:sp>
      <p:sp>
        <p:nvSpPr>
          <p:cNvPr id="30" name="Shape 25"/>
          <p:cNvSpPr/>
          <p:nvPr/>
        </p:nvSpPr>
        <p:spPr>
          <a:xfrm>
            <a:off x="6318504" y="5294376"/>
            <a:ext cx="457200" cy="45720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1" name="Image 3" descr="/home/claude/icons/g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5422392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22008" y="516636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Git &amp; tight GitHub integration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core services, one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is made of five services. You can use them together for the full lifecycle, or adopt just the ones you need.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cons/logo_bo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313432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2441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22960" y="32278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track work with backlogs, boards and sprints.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20574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/home/claude/icons/logo_rep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2313432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2392" y="2441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4526280" y="32278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code in unlimited private Git repositories.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955280" y="20574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/home/claude/icons/logo_pipelin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2313432"/>
            <a:ext cx="777240" cy="7772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25712" y="2441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8229600" y="32278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builds, tests and deployments (CI/CD).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2395728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/home/claude/icons/logo_testpla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0" y="4416552"/>
            <a:ext cx="777240" cy="7772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66160" y="4544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Plans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2670048" y="53309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and exploratory testing with rich reporting.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099048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4" descr="/home/claude/icons/logo_artifac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4416552"/>
            <a:ext cx="777240" cy="7772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9480" y="4544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Artifacts</a:t>
            </a:r>
            <a:endParaRPr lang="en-US" sz="2100" dirty="0"/>
          </a:p>
        </p:txBody>
      </p:sp>
      <p:sp>
        <p:nvSpPr>
          <p:cNvPr id="24" name="Text 17"/>
          <p:cNvSpPr/>
          <p:nvPr/>
        </p:nvSpPr>
        <p:spPr>
          <a:xfrm>
            <a:off x="6373368" y="53309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packages (npm, NuGet, Maven, Python) with feeds.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B3D"/>
          </a:solidFill>
          <a:ln/>
        </p:spPr>
      </p:sp>
      <p:pic>
        <p:nvPicPr>
          <p:cNvPr id="4" name="Image 0" descr="/home/claude/icons/logo_bo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0A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880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66928" y="36118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track and discuss work across your whole team.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262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26280" y="960120"/>
            <a:ext cx="7086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turns your work into visible, trackable items — user stories, tasks and bugs — organised on Kanban boards and sprint backlogs so everyone knows what to do next.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52628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26280" y="2926080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3054096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3" name="Text 10"/>
          <p:cNvSpPr/>
          <p:nvPr/>
        </p:nvSpPr>
        <p:spPr>
          <a:xfrm>
            <a:off x="4681728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03520" y="2926080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 items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epics, user stories, tasks and bugs.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26280" y="3767328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81728" y="3895344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7" name="Text 14"/>
          <p:cNvSpPr/>
          <p:nvPr/>
        </p:nvSpPr>
        <p:spPr>
          <a:xfrm>
            <a:off x="468172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03520" y="3767328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on a board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cards across columns: To Do → Doing → Done.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26280" y="4608576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81728" y="473659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1" name="Text 18"/>
          <p:cNvSpPr/>
          <p:nvPr/>
        </p:nvSpPr>
        <p:spPr>
          <a:xfrm>
            <a:off x="4681728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03520" y="4608576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sprints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 into time-boxed iterations with capacity.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26280" y="5449824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81728" y="557784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5" name="Text 22"/>
          <p:cNvSpPr/>
          <p:nvPr/>
        </p:nvSpPr>
        <p:spPr>
          <a:xfrm>
            <a:off x="4681728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303520" y="5449824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code &amp; builds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commits and pull requests to work items.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B3D"/>
          </a:solidFill>
          <a:ln/>
        </p:spPr>
      </p:sp>
      <p:pic>
        <p:nvPicPr>
          <p:cNvPr id="4" name="Image 0" descr="/home/claude/icons/logo_rep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0A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02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880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66928" y="36118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version and review your source code with Git.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262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26280" y="960120"/>
            <a:ext cx="7086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gives you unlimited private Git repositories to store code, track every change, and review contributions through pull requests before they merge.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52628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26280" y="2926080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3054096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13" name="Text 10"/>
          <p:cNvSpPr/>
          <p:nvPr/>
        </p:nvSpPr>
        <p:spPr>
          <a:xfrm>
            <a:off x="4681728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03520" y="2926080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the repository to your machine.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26280" y="3767328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81728" y="3895344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17" name="Text 14"/>
          <p:cNvSpPr/>
          <p:nvPr/>
        </p:nvSpPr>
        <p:spPr>
          <a:xfrm>
            <a:off x="468172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03520" y="3767328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commit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branch, make changes, commit them.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26280" y="4608576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81728" y="4736592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21" name="Text 18"/>
          <p:cNvSpPr/>
          <p:nvPr/>
        </p:nvSpPr>
        <p:spPr>
          <a:xfrm>
            <a:off x="4681728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03520" y="4608576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request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merging your branch into main.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26280" y="5449824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81728" y="5577840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25" name="Text 22"/>
          <p:cNvSpPr/>
          <p:nvPr/>
        </p:nvSpPr>
        <p:spPr>
          <a:xfrm>
            <a:off x="4681728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303520" y="5449824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merge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review, approve, then merge safely.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B3D"/>
          </a:solidFill>
          <a:ln/>
        </p:spPr>
      </p:sp>
      <p:pic>
        <p:nvPicPr>
          <p:cNvPr id="4" name="Image 0" descr="/home/claude/icons/logo_pipe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0A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03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880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66928" y="36118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build, test and deployment — the heart of CI/CD.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262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26280" y="960120"/>
            <a:ext cx="7086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automatically builds and tests your code every time you push, then deploys it to your environments. Defined as YAML, it runs on Microsoft-hosted or your own agents.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52628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26280" y="2926080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305409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4681728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03520" y="2926080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YAML file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stages, jobs and steps in azure-pipelines.yml.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26280" y="3767328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81728" y="389534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4"/>
          <p:cNvSpPr/>
          <p:nvPr/>
        </p:nvSpPr>
        <p:spPr>
          <a:xfrm>
            <a:off x="468172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03520" y="3767328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 push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runs automatically on every commit.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26280" y="4608576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81728" y="47365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8"/>
          <p:cNvSpPr/>
          <p:nvPr/>
        </p:nvSpPr>
        <p:spPr>
          <a:xfrm>
            <a:off x="4681728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03520" y="4608576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code, run tests, produce artifacts.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26280" y="5449824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81728" y="55778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5" name="Text 22"/>
          <p:cNvSpPr/>
          <p:nvPr/>
        </p:nvSpPr>
        <p:spPr>
          <a:xfrm>
            <a:off x="4681728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303520" y="5449824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 stages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to dev, staging and prod with approvals.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B3D"/>
          </a:solidFill>
          <a:ln/>
        </p:spPr>
      </p:sp>
      <p:pic>
        <p:nvPicPr>
          <p:cNvPr id="4" name="Image 0" descr="/home/claude/icons/logo_testpl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0A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04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880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Plans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66928" y="36118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run and track manual and exploratory tests.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262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26280" y="960120"/>
            <a:ext cx="7086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Plans provides tools for planned manual testing, exploratory testing and user acceptance testing, with rich reporting so you can track quality across releases.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52628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26280" y="2926080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3054096"/>
            <a:ext cx="457200" cy="4572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3" name="Text 10"/>
          <p:cNvSpPr/>
          <p:nvPr/>
        </p:nvSpPr>
        <p:spPr>
          <a:xfrm>
            <a:off x="4681728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03520" y="2926080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test plan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test cases by feature or release.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26280" y="3767328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81728" y="3895344"/>
            <a:ext cx="457200" cy="4572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7" name="Text 14"/>
          <p:cNvSpPr/>
          <p:nvPr/>
        </p:nvSpPr>
        <p:spPr>
          <a:xfrm>
            <a:off x="468172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03520" y="3767328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 cases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steps and expected results.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26280" y="4608576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81728" y="4736592"/>
            <a:ext cx="457200" cy="4572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1" name="Text 18"/>
          <p:cNvSpPr/>
          <p:nvPr/>
        </p:nvSpPr>
        <p:spPr>
          <a:xfrm>
            <a:off x="4681728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03520" y="4608576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record results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step pass or fail as you test.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26280" y="5449824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81728" y="5577840"/>
            <a:ext cx="457200" cy="4572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5" name="Text 22"/>
          <p:cNvSpPr/>
          <p:nvPr/>
        </p:nvSpPr>
        <p:spPr>
          <a:xfrm>
            <a:off x="4681728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303520" y="5449824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quality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 pass rates and open bugs.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B3D"/>
          </a:solidFill>
          <a:ln/>
        </p:spPr>
      </p:sp>
      <p:pic>
        <p:nvPicPr>
          <p:cNvPr id="4" name="Image 0" descr="/home/claude/icons/logo_artifa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0A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05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880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66928" y="36118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build outputs and packages across teams.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262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26280" y="960120"/>
            <a:ext cx="7086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lets you host and share packages — npm, NuGet, Maven, Python — through feeds, so pipelines and developers pull consistent, versioned dependencies.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52628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26280" y="2926080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3054096"/>
            <a:ext cx="457200" cy="45720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3" name="Text 10"/>
          <p:cNvSpPr/>
          <p:nvPr/>
        </p:nvSpPr>
        <p:spPr>
          <a:xfrm>
            <a:off x="4681728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03520" y="2926080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feed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feed is a container for your packages.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26280" y="3767328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81728" y="3895344"/>
            <a:ext cx="457200" cy="45720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7" name="Text 14"/>
          <p:cNvSpPr/>
          <p:nvPr/>
        </p:nvSpPr>
        <p:spPr>
          <a:xfrm>
            <a:off x="468172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03520" y="3767328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packages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build outputs or libraries to the feed.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26280" y="4608576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81728" y="4736592"/>
            <a:ext cx="457200" cy="45720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21" name="Text 18"/>
          <p:cNvSpPr/>
          <p:nvPr/>
        </p:nvSpPr>
        <p:spPr>
          <a:xfrm>
            <a:off x="4681728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03520" y="4608576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project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npm / NuGet / pip to the feed URL.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26280" y="5449824"/>
            <a:ext cx="7086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81728" y="5577840"/>
            <a:ext cx="457200" cy="45720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25" name="Text 22"/>
          <p:cNvSpPr/>
          <p:nvPr/>
        </p:nvSpPr>
        <p:spPr>
          <a:xfrm>
            <a:off x="4681728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303520" y="5449824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in pipelines  </a:t>
            </a: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dependencies during builds.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CI/CD?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82" y="19623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1051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— Continuous Integration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 change is automatically merged, built and tested. Problems are caught early — within minutes of a commit — instead of days later.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0A1B3D"/>
          </a:solidFill>
          <a:ln/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2EA04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/home/claude/icons/deplo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462" y="196230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1051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 — Continuous Delivery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492240" y="2606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code is automatically packaged and released to your environments. Deployments become routine, fast and low-risk instead of stressful events.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EAF2FC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terms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factory line. </a:t>
            </a:r>
            <a:r>
              <a:rPr lang="en-US" sz="15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is the station that checks every part the moment it arrives — bad parts are rejected instantly. CD is the conveyor that carries approved parts all the way to the customer automatically. Together, code moves from a developer's keyboard to live users quickly, safely and without manual hand-offs.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0A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CI/CD pipeline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push travels through six automated stages — from a developer's commit to running in production.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112A54"/>
          </a:solidFill>
          <a:ln w="15875">
            <a:solidFill>
              <a:srgbClr val="0078D4"/>
            </a:solidFill>
            <a:prstDash val="solid"/>
          </a:ln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37844" y="2404872"/>
            <a:ext cx="777240" cy="77724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/home/claude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471" y="2622499"/>
            <a:ext cx="341986" cy="341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31927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6656" y="370332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code to Repos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1" descr="/home/claude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017520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380183" y="2148840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112A54"/>
          </a:solidFill>
          <a:ln w="15875">
            <a:solidFill>
              <a:srgbClr val="0078D4"/>
            </a:solidFill>
            <a:prstDash val="solid"/>
          </a:ln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869387" y="2404872"/>
            <a:ext cx="777240" cy="77724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/home/claude/icons/bui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014" y="2622499"/>
            <a:ext cx="341986" cy="3419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380183" y="331927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508199" y="370332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compiles &amp; packages the app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471623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8" name="Image 3" descr="/home/claude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7543" y="3017520"/>
            <a:ext cx="256032" cy="2560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211726" y="2148840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112A54"/>
          </a:solidFill>
          <a:ln w="15875">
            <a:solidFill>
              <a:srgbClr val="0078D4"/>
            </a:solidFill>
            <a:prstDash val="solid"/>
          </a:ln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700930" y="2404872"/>
            <a:ext cx="777240" cy="77724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4" descr="/home/claude/icons/t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8558" y="2622499"/>
            <a:ext cx="341986" cy="34198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211726" y="331927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339742" y="370332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run on the build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303166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5" name="Image 5" descr="/home/claude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086" y="3017520"/>
            <a:ext cx="256032" cy="25603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043270" y="2148840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112A54"/>
          </a:solidFill>
          <a:ln w="15875">
            <a:solidFill>
              <a:srgbClr val="2EA043"/>
            </a:solidFill>
            <a:prstDash val="solid"/>
          </a:ln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532474" y="2404872"/>
            <a:ext cx="777240" cy="777240"/>
          </a:xfrm>
          <a:prstGeom prst="ellipse">
            <a:avLst/>
          </a:prstGeom>
          <a:solidFill>
            <a:srgbClr val="2EA04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8" name="Image 6" descr="/home/claude/icons/artifac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101" y="2622499"/>
            <a:ext cx="341986" cy="34198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043270" y="331927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6171286" y="370332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package is stored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6134710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32" name="Image 7" descr="/home/claude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630" y="3017520"/>
            <a:ext cx="256032" cy="256032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874813" y="2148840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112A54"/>
          </a:solidFill>
          <a:ln w="15875">
            <a:solidFill>
              <a:srgbClr val="2EA043"/>
            </a:solidFill>
            <a:prstDash val="solid"/>
          </a:ln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8364017" y="2404872"/>
            <a:ext cx="777240" cy="777240"/>
          </a:xfrm>
          <a:prstGeom prst="ellipse">
            <a:avLst/>
          </a:prstGeom>
          <a:solidFill>
            <a:srgbClr val="2EA04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5" name="Image 8" descr="/home/claude/icons/deplo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1644" y="2622499"/>
            <a:ext cx="341986" cy="34198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874813" y="331927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37" name="Text 26"/>
          <p:cNvSpPr/>
          <p:nvPr/>
        </p:nvSpPr>
        <p:spPr>
          <a:xfrm>
            <a:off x="8002829" y="370332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to staging, then production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7966253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39" name="Image 9" descr="/home/claude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173" y="3017520"/>
            <a:ext cx="256032" cy="256032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9706356" y="2148840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112A54"/>
          </a:solidFill>
          <a:ln w="15875">
            <a:solidFill>
              <a:srgbClr val="2EA043"/>
            </a:solidFill>
            <a:prstDash val="solid"/>
          </a:ln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</p:sp>
      <p:sp>
        <p:nvSpPr>
          <p:cNvPr id="41" name="Shape 29"/>
          <p:cNvSpPr/>
          <p:nvPr/>
        </p:nvSpPr>
        <p:spPr>
          <a:xfrm>
            <a:off x="10195560" y="2404872"/>
            <a:ext cx="777240" cy="777240"/>
          </a:xfrm>
          <a:prstGeom prst="ellipse">
            <a:avLst/>
          </a:prstGeom>
          <a:solidFill>
            <a:srgbClr val="2EA043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2" name="Image 10" descr="/home/claude/icons/monit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3187" y="2622499"/>
            <a:ext cx="341986" cy="341986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9706356" y="331927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600" dirty="0"/>
          </a:p>
        </p:txBody>
      </p:sp>
      <p:sp>
        <p:nvSpPr>
          <p:cNvPr id="44" name="Text 31"/>
          <p:cNvSpPr/>
          <p:nvPr/>
        </p:nvSpPr>
        <p:spPr>
          <a:xfrm>
            <a:off x="9834372" y="370332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feedback watched live</a:t>
            </a:r>
            <a:endParaRPr lang="en-US" sz="1100" dirty="0"/>
          </a:p>
        </p:txBody>
      </p:sp>
      <p:sp>
        <p:nvSpPr>
          <p:cNvPr id="45" name="Text 32"/>
          <p:cNvSpPr/>
          <p:nvPr/>
        </p:nvSpPr>
        <p:spPr>
          <a:xfrm>
            <a:off x="9797796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Shape 33"/>
          <p:cNvSpPr/>
          <p:nvPr/>
        </p:nvSpPr>
        <p:spPr>
          <a:xfrm>
            <a:off x="548640" y="4709160"/>
            <a:ext cx="5418734" cy="457200"/>
          </a:xfrm>
          <a:prstGeom prst="roundRect">
            <a:avLst>
              <a:gd name="adj" fmla="val 50000"/>
            </a:avLst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548640" y="4709160"/>
            <a:ext cx="5418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(CI)</a:t>
            </a:r>
            <a:endParaRPr lang="en-US" sz="1200" dirty="0"/>
          </a:p>
        </p:txBody>
      </p:sp>
      <p:sp>
        <p:nvSpPr>
          <p:cNvPr id="48" name="Shape 35"/>
          <p:cNvSpPr/>
          <p:nvPr/>
        </p:nvSpPr>
        <p:spPr>
          <a:xfrm>
            <a:off x="6043270" y="4709160"/>
            <a:ext cx="5418734" cy="457200"/>
          </a:xfrm>
          <a:prstGeom prst="roundRect">
            <a:avLst>
              <a:gd name="adj" fmla="val 50000"/>
            </a:avLst>
          </a:prstGeom>
          <a:solidFill>
            <a:srgbClr val="2EA043">
              <a:alpha val="45000"/>
            </a:srgbClr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6043270" y="4709160"/>
            <a:ext cx="5418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 (CD)</a:t>
            </a:r>
            <a:endParaRPr lang="en-US" sz="1200" dirty="0"/>
          </a:p>
        </p:txBody>
      </p:sp>
      <p:sp>
        <p:nvSpPr>
          <p:cNvPr id="50" name="Text 37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0A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stage fails, the pipeline stops and the team is notified — broken code never reaches users.</a:t>
            </a:r>
            <a:endParaRPr lang="en-US" sz="1400" dirty="0"/>
          </a:p>
        </p:txBody>
      </p:sp>
      <p:sp>
        <p:nvSpPr>
          <p:cNvPr id="51" name="Text 3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your first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0" cy="384048"/>
          </a:xfrm>
          <a:prstGeom prst="line">
            <a:avLst/>
          </a:prstGeom>
          <a:noFill/>
          <a:ln w="25400">
            <a:solidFill>
              <a:srgbClr val="50A0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280160" y="1490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repo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280160" y="18013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Pipelines at your Azure Repos or GitHub project.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48640" cy="54864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2990088"/>
            <a:ext cx="0" cy="384048"/>
          </a:xfrm>
          <a:prstGeom prst="line">
            <a:avLst/>
          </a:prstGeom>
          <a:noFill/>
          <a:ln w="25400">
            <a:solidFill>
              <a:srgbClr val="50A0E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280160" y="2423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azure-pipelines.yml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280160" y="273405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pipeline as code in your repository root.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548640" cy="54864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374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3922776"/>
            <a:ext cx="0" cy="384048"/>
          </a:xfrm>
          <a:prstGeom prst="line">
            <a:avLst/>
          </a:prstGeom>
          <a:noFill/>
          <a:ln w="25400">
            <a:solidFill>
              <a:srgbClr val="50A0E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280160" y="33558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trigger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80160" y="366674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automatically on every push to main.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306824"/>
            <a:ext cx="548640" cy="54864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306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22960" y="4855464"/>
            <a:ext cx="0" cy="384048"/>
          </a:xfrm>
          <a:prstGeom prst="line">
            <a:avLst/>
          </a:prstGeom>
          <a:noFill/>
          <a:ln w="25400">
            <a:solidFill>
              <a:srgbClr val="50A0E6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280160" y="42885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stages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280160" y="459943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then Test, then Deploy — with approvals.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239512"/>
            <a:ext cx="548640" cy="548640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5239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80160" y="52212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watch logs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280160" y="55321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live logs; fix failures and re-run.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150876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0D1830"/>
          </a:solidFill>
          <a:ln/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173736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0" name="Shape 28"/>
          <p:cNvSpPr/>
          <p:nvPr/>
        </p:nvSpPr>
        <p:spPr>
          <a:xfrm>
            <a:off x="6601968" y="173736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1" name="Shape 29"/>
          <p:cNvSpPr/>
          <p:nvPr/>
        </p:nvSpPr>
        <p:spPr>
          <a:xfrm>
            <a:off x="6803136" y="173736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1664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azure-pipelines.yml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21488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trigger: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0" y="24323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main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0" y="27157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0" y="29992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pool: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00800" y="328269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vmImage: ubuntu-latest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0" y="3566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400800" y="38496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steps: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400800" y="41330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ED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script: npm install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400800" y="44165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displayName: Install deps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400800" y="47000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ED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script: npm test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400800" y="49834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displayName: Run tests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400800" y="52669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ED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script: npm run build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400800" y="55504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displayName: Build app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400800" y="5742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this file in your repo — the pipeline runs on the next push.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with your favourite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deploys to any cloud and integrates with the tools DevOps teams already use every 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23160"/>
            <a:ext cx="777240" cy="777240"/>
          </a:xfrm>
          <a:prstGeom prst="ellipse">
            <a:avLst/>
          </a:prstGeom>
          <a:solidFill>
            <a:srgbClr val="0A1B3D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/home/claude/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" y="2640787"/>
            <a:ext cx="341986" cy="341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3736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hosting &amp; Actions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51960" y="21031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423160"/>
            <a:ext cx="777240" cy="777240"/>
          </a:xfrm>
          <a:prstGeom prst="ellipse">
            <a:avLst/>
          </a:prstGeom>
          <a:solidFill>
            <a:srgbClr val="0A1B3D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/home/claude/icons/doc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907" y="2640787"/>
            <a:ext cx="341986" cy="3419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44068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push containers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55280" y="21031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0" y="2423160"/>
            <a:ext cx="777240" cy="777240"/>
          </a:xfrm>
          <a:prstGeom prst="ellipse">
            <a:avLst/>
          </a:prstGeom>
          <a:solidFill>
            <a:srgbClr val="0A1B3D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2" descr="/home/claude/icons/kuberne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7227" y="2640787"/>
            <a:ext cx="341986" cy="3419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0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14400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AKS clusters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4389120"/>
            <a:ext cx="777240" cy="777240"/>
          </a:xfrm>
          <a:prstGeom prst="ellipse">
            <a:avLst/>
          </a:prstGeom>
          <a:solidFill>
            <a:srgbClr val="0A1B3D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3" descr="/home/claude/icons/terrafo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587" y="4606747"/>
            <a:ext cx="341986" cy="34198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37360" y="4453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737360" y="4846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infra as code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251960" y="40690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26280" y="4389120"/>
            <a:ext cx="777240" cy="777240"/>
          </a:xfrm>
          <a:prstGeom prst="ellipse">
            <a:avLst/>
          </a:prstGeom>
          <a:solidFill>
            <a:srgbClr val="0A1B3D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4" descr="/home/claude/icons/az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907" y="4606747"/>
            <a:ext cx="341986" cy="34198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40680" y="4453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5440680" y="4846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deployment target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7955280" y="40690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29600" y="4389120"/>
            <a:ext cx="777240" cy="777240"/>
          </a:xfrm>
          <a:prstGeom prst="ellipse">
            <a:avLst/>
          </a:prstGeom>
          <a:solidFill>
            <a:srgbClr val="0A1B3D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2" name="Image 5" descr="/home/claude/icons/ser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7227" y="4606747"/>
            <a:ext cx="341986" cy="34198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44000" y="4453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Host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9144000" y="4846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VMs, on-prem or other clouds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0A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steps with Azure DevOps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112A54"/>
          </a:solidFill>
          <a:ln/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55648"/>
            <a:ext cx="566928" cy="566928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260" y="1914388"/>
            <a:ext cx="249448" cy="2494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1907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organization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20391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at dev.azure.com and create a free org.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624328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112A54"/>
          </a:solidFill>
          <a:ln/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779776"/>
            <a:ext cx="566928" cy="566928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1" descr="/home/claude/icons/boa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260" y="2938516"/>
            <a:ext cx="249448" cy="2494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27432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project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463040" y="30632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project — it enables all five services.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648456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112A54"/>
          </a:solidFill>
          <a:ln/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803904"/>
            <a:ext cx="566928" cy="566928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2" descr="/home/claude/icons/rep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260" y="3962644"/>
            <a:ext cx="249448" cy="2494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7673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code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463040" y="40873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repo in Repos and push your first commit.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4672584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112A54"/>
          </a:solidFill>
          <a:ln/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1520" y="4828032"/>
            <a:ext cx="566928" cy="566928"/>
          </a:xfrm>
          <a:prstGeom prst="ellipse">
            <a:avLst/>
          </a:prstGeom>
          <a:solidFill>
            <a:srgbClr val="0078D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3" name="Image 3" descr="/home/claude/icons/pipe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260" y="4986772"/>
            <a:ext cx="249448" cy="2494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479145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pipeline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1463040" y="511149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azure-pipelines.yml and watch CI/CD run.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635240" y="1600200"/>
            <a:ext cx="3977640" cy="4160520"/>
          </a:xfrm>
          <a:prstGeom prst="roundRect">
            <a:avLst>
              <a:gd name="adj" fmla="val 2759"/>
            </a:avLst>
          </a:prstGeom>
          <a:solidFill>
            <a:srgbClr val="0078D4"/>
          </a:solidFill>
          <a:ln/>
          <a:effectLst>
            <a:outerShdw blurRad="114300" dist="38100" dir="5400000" algn="bl" rotWithShape="0">
              <a:srgbClr val="0A1B3D">
                <a:alpha val="14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9" name="Text 22"/>
          <p:cNvSpPr/>
          <p:nvPr/>
        </p:nvSpPr>
        <p:spPr>
          <a:xfrm>
            <a:off x="795528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F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7955280" y="32461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DevOps unites planning, code, testing and automated delivery so your team ships better software, faster — with confidence at every step.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A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Prepared by Manoop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075C0D6-907A-ABD3-73BF-D283C23A1E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5438" y="1797314"/>
            <a:ext cx="835325" cy="835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1386</Words>
  <Application>Microsoft Office PowerPoint</Application>
  <PresentationFormat>Widescreen</PresentationFormat>
  <Paragraphs>252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DevOps</dc:title>
  <dc:subject>PptxGenJS Presentation</dc:subject>
  <dc:creator>Manoop</dc:creator>
  <cp:lastModifiedBy>Manoop Madhu</cp:lastModifiedBy>
  <cp:revision>2</cp:revision>
  <dcterms:created xsi:type="dcterms:W3CDTF">2026-07-03T20:30:05Z</dcterms:created>
  <dcterms:modified xsi:type="dcterms:W3CDTF">2026-07-05T17:27:24Z</dcterms:modified>
</cp:coreProperties>
</file>